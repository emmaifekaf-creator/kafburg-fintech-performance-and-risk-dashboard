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2"/>
  </p:normalViewPr>
  <p:slideViewPr>
    <p:cSldViewPr snapToGrid="0">
      <p:cViewPr varScale="1">
        <p:scale>
          <a:sx n="100" d="100"/>
          <a:sy n="100" d="100"/>
        </p:scale>
        <p:origin x="10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mac/Downloads/Manelch_Fintech_transaction_datase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mac/Downloads/Manelch_Fintech_transaction_datase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mac/Downloads/Manelch_Fintech_transaction_datase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mac/Downloads/Manelch_Fintech_transaction_datase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mac/Downloads/Manelch_Fintech_transaction_datase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[Kafburg Fintech Performance and Risk Dashboard.xlsx]Sheet3!PivotTable1</c:name>
    <c:fmtId val="7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8.298134273871971E-2"/>
          <c:y val="7.3563218390804597E-2"/>
          <c:w val="0.68966560706302582"/>
          <c:h val="0.8428045977011494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Sheet3!$B$3:$B$4</c:f>
              <c:strCache>
                <c:ptCount val="1"/>
                <c:pt idx="0">
                  <c:v>Deposit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Sheet3!$A$5:$A$7</c:f>
              <c:strCache>
                <c:ptCount val="2"/>
                <c:pt idx="0">
                  <c:v>Failed</c:v>
                </c:pt>
                <c:pt idx="1">
                  <c:v>Success</c:v>
                </c:pt>
              </c:strCache>
            </c:strRef>
          </c:cat>
          <c:val>
            <c:numRef>
              <c:f>Sheet3!$B$5:$B$7</c:f>
              <c:numCache>
                <c:formatCode>General</c:formatCode>
                <c:ptCount val="2"/>
                <c:pt idx="0">
                  <c:v>464</c:v>
                </c:pt>
                <c:pt idx="1">
                  <c:v>1796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89-F24D-89BA-C32F79CEBFE8}"/>
            </c:ext>
          </c:extLst>
        </c:ser>
        <c:ser>
          <c:idx val="1"/>
          <c:order val="1"/>
          <c:tx>
            <c:strRef>
              <c:f>Sheet3!$C$3:$C$4</c:f>
              <c:strCache>
                <c:ptCount val="1"/>
                <c:pt idx="0">
                  <c:v>Transfer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Sheet3!$A$5:$A$7</c:f>
              <c:strCache>
                <c:ptCount val="2"/>
                <c:pt idx="0">
                  <c:v>Failed</c:v>
                </c:pt>
                <c:pt idx="1">
                  <c:v>Success</c:v>
                </c:pt>
              </c:strCache>
            </c:strRef>
          </c:cat>
          <c:val>
            <c:numRef>
              <c:f>Sheet3!$C$5:$C$7</c:f>
              <c:numCache>
                <c:formatCode>General</c:formatCode>
                <c:ptCount val="2"/>
                <c:pt idx="0">
                  <c:v>457</c:v>
                </c:pt>
                <c:pt idx="1">
                  <c:v>1838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C89-F24D-89BA-C32F79CEBFE8}"/>
            </c:ext>
          </c:extLst>
        </c:ser>
        <c:ser>
          <c:idx val="2"/>
          <c:order val="2"/>
          <c:tx>
            <c:strRef>
              <c:f>Sheet3!$D$3:$D$4</c:f>
              <c:strCache>
                <c:ptCount val="1"/>
                <c:pt idx="0">
                  <c:v>Withdrawal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Sheet3!$A$5:$A$7</c:f>
              <c:strCache>
                <c:ptCount val="2"/>
                <c:pt idx="0">
                  <c:v>Failed</c:v>
                </c:pt>
                <c:pt idx="1">
                  <c:v>Success</c:v>
                </c:pt>
              </c:strCache>
            </c:strRef>
          </c:cat>
          <c:val>
            <c:numRef>
              <c:f>Sheet3!$D$5:$D$7</c:f>
              <c:numCache>
                <c:formatCode>General</c:formatCode>
                <c:ptCount val="2"/>
                <c:pt idx="0">
                  <c:v>418</c:v>
                </c:pt>
                <c:pt idx="1">
                  <c:v>1800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C89-F24D-89BA-C32F79CEBF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28567967"/>
        <c:axId val="1180397583"/>
      </c:barChart>
      <c:catAx>
        <c:axId val="11285679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0397583"/>
        <c:crosses val="autoZero"/>
        <c:auto val="1"/>
        <c:lblAlgn val="ctr"/>
        <c:lblOffset val="100"/>
        <c:noMultiLvlLbl val="0"/>
      </c:catAx>
      <c:valAx>
        <c:axId val="11803975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85679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[Kafburg Fintech Performance and Risk Dashboard.xlsx]Sheet5!PivotTable2</c:name>
    <c:fmtId val="5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9.0680446194225717E-2"/>
          <c:y val="7.407407407407407E-2"/>
          <c:w val="0.72043853893263343"/>
          <c:h val="0.8417129629629629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Sheet5!$B$3:$B$4</c:f>
              <c:strCache>
                <c:ptCount val="1"/>
                <c:pt idx="0">
                  <c:v>Desktop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Sheet5!$A$5:$A$8</c:f>
              <c:strCache>
                <c:ptCount val="3"/>
                <c:pt idx="0">
                  <c:v>Failed</c:v>
                </c:pt>
                <c:pt idx="1">
                  <c:v>Success</c:v>
                </c:pt>
                <c:pt idx="2">
                  <c:v>(blank)</c:v>
                </c:pt>
              </c:strCache>
            </c:strRef>
          </c:cat>
          <c:val>
            <c:numRef>
              <c:f>Sheet5!$B$5:$B$8</c:f>
              <c:numCache>
                <c:formatCode>General</c:formatCode>
                <c:ptCount val="3"/>
                <c:pt idx="0">
                  <c:v>3990</c:v>
                </c:pt>
                <c:pt idx="1">
                  <c:v>15985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B0-854C-A5AD-C1DB6A25CB9D}"/>
            </c:ext>
          </c:extLst>
        </c:ser>
        <c:ser>
          <c:idx val="1"/>
          <c:order val="1"/>
          <c:tx>
            <c:strRef>
              <c:f>Sheet5!$C$3:$C$4</c:f>
              <c:strCache>
                <c:ptCount val="1"/>
                <c:pt idx="0">
                  <c:v>Mobile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Sheet5!$A$5:$A$8</c:f>
              <c:strCache>
                <c:ptCount val="3"/>
                <c:pt idx="0">
                  <c:v>Failed</c:v>
                </c:pt>
                <c:pt idx="1">
                  <c:v>Success</c:v>
                </c:pt>
                <c:pt idx="2">
                  <c:v>(blank)</c:v>
                </c:pt>
              </c:strCache>
            </c:strRef>
          </c:cat>
          <c:val>
            <c:numRef>
              <c:f>Sheet5!$C$5:$C$8</c:f>
              <c:numCache>
                <c:formatCode>General</c:formatCode>
                <c:ptCount val="3"/>
                <c:pt idx="0">
                  <c:v>3979</c:v>
                </c:pt>
                <c:pt idx="1">
                  <c:v>16046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5B0-854C-A5AD-C1DB6A25CB9D}"/>
            </c:ext>
          </c:extLst>
        </c:ser>
        <c:ser>
          <c:idx val="2"/>
          <c:order val="2"/>
          <c:tx>
            <c:strRef>
              <c:f>Sheet5!$D$3:$D$4</c:f>
              <c:strCache>
                <c:ptCount val="1"/>
                <c:pt idx="0">
                  <c:v>(blank)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Sheet5!$A$5:$A$8</c:f>
              <c:strCache>
                <c:ptCount val="3"/>
                <c:pt idx="0">
                  <c:v>Failed</c:v>
                </c:pt>
                <c:pt idx="1">
                  <c:v>Success</c:v>
                </c:pt>
                <c:pt idx="2">
                  <c:v>(blank)</c:v>
                </c:pt>
              </c:strCache>
            </c:strRef>
          </c:cat>
          <c:val>
            <c:numRef>
              <c:f>Sheet5!$D$5:$D$8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02-55B0-854C-A5AD-C1DB6A25CB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62905983"/>
        <c:axId val="1180200383"/>
      </c:barChart>
      <c:catAx>
        <c:axId val="15629059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0200383"/>
        <c:crosses val="autoZero"/>
        <c:auto val="1"/>
        <c:lblAlgn val="ctr"/>
        <c:lblOffset val="100"/>
        <c:noMultiLvlLbl val="0"/>
      </c:catAx>
      <c:valAx>
        <c:axId val="1180200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29059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[Kafburg Fintech Performance and Risk Dashboard.xlsx]Sheet9!Geolocation Table</c:name>
    <c:fmtId val="6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5928587450019319"/>
          <c:y val="2.6666671766212346E-2"/>
          <c:w val="0.73899409448818898"/>
          <c:h val="0.6627770487022455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Sheet9!$B$3:$B$4</c:f>
              <c:strCache>
                <c:ptCount val="1"/>
                <c:pt idx="0">
                  <c:v>Failed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Sheet9!$A$5:$A$19</c:f>
              <c:multiLvlStrCache>
                <c:ptCount val="7"/>
                <c:lvl>
                  <c:pt idx="0">
                    <c:v> -74.006 W</c:v>
                  </c:pt>
                  <c:pt idx="1">
                    <c:v> -118.2437 W</c:v>
                  </c:pt>
                  <c:pt idx="2">
                    <c:v> -74.006 W</c:v>
                  </c:pt>
                  <c:pt idx="3">
                    <c:v> 2.3522 W</c:v>
                  </c:pt>
                  <c:pt idx="4">
                    <c:v> 0.1278 W</c:v>
                  </c:pt>
                  <c:pt idx="5">
                    <c:v> 37.6173 W</c:v>
                  </c:pt>
                  <c:pt idx="6">
                    <c:v>(blank)</c:v>
                  </c:pt>
                </c:lvl>
                <c:lvl>
                  <c:pt idx="0">
                    <c:v>34.0522 N</c:v>
                  </c:pt>
                  <c:pt idx="1">
                    <c:v>35.6895 N</c:v>
                  </c:pt>
                  <c:pt idx="2">
                    <c:v>40.7128 N</c:v>
                  </c:pt>
                  <c:pt idx="3">
                    <c:v>48.8566 N</c:v>
                  </c:pt>
                  <c:pt idx="4">
                    <c:v>51.5074 N</c:v>
                  </c:pt>
                  <c:pt idx="5">
                    <c:v>55.7558 N</c:v>
                  </c:pt>
                  <c:pt idx="6">
                    <c:v>(blank)</c:v>
                  </c:pt>
                </c:lvl>
              </c:multiLvlStrCache>
            </c:multiLvlStrRef>
          </c:cat>
          <c:val>
            <c:numRef>
              <c:f>Sheet9!$B$5:$B$19</c:f>
              <c:numCache>
                <c:formatCode>General</c:formatCode>
                <c:ptCount val="7"/>
                <c:pt idx="0">
                  <c:v>1296</c:v>
                </c:pt>
                <c:pt idx="1">
                  <c:v>1375</c:v>
                </c:pt>
                <c:pt idx="2">
                  <c:v>1339</c:v>
                </c:pt>
                <c:pt idx="3">
                  <c:v>1336</c:v>
                </c:pt>
                <c:pt idx="4">
                  <c:v>1287</c:v>
                </c:pt>
                <c:pt idx="5">
                  <c:v>1336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16-4842-AA39-F76B1148730E}"/>
            </c:ext>
          </c:extLst>
        </c:ser>
        <c:ser>
          <c:idx val="1"/>
          <c:order val="1"/>
          <c:tx>
            <c:strRef>
              <c:f>Sheet9!$C$3:$C$4</c:f>
              <c:strCache>
                <c:ptCount val="1"/>
                <c:pt idx="0">
                  <c:v>Success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multiLvlStrRef>
              <c:f>Sheet9!$A$5:$A$19</c:f>
              <c:multiLvlStrCache>
                <c:ptCount val="7"/>
                <c:lvl>
                  <c:pt idx="0">
                    <c:v> -74.006 W</c:v>
                  </c:pt>
                  <c:pt idx="1">
                    <c:v> -118.2437 W</c:v>
                  </c:pt>
                  <c:pt idx="2">
                    <c:v> -74.006 W</c:v>
                  </c:pt>
                  <c:pt idx="3">
                    <c:v> 2.3522 W</c:v>
                  </c:pt>
                  <c:pt idx="4">
                    <c:v> 0.1278 W</c:v>
                  </c:pt>
                  <c:pt idx="5">
                    <c:v> 37.6173 W</c:v>
                  </c:pt>
                  <c:pt idx="6">
                    <c:v>(blank)</c:v>
                  </c:pt>
                </c:lvl>
                <c:lvl>
                  <c:pt idx="0">
                    <c:v>34.0522 N</c:v>
                  </c:pt>
                  <c:pt idx="1">
                    <c:v>35.6895 N</c:v>
                  </c:pt>
                  <c:pt idx="2">
                    <c:v>40.7128 N</c:v>
                  </c:pt>
                  <c:pt idx="3">
                    <c:v>48.8566 N</c:v>
                  </c:pt>
                  <c:pt idx="4">
                    <c:v>51.5074 N</c:v>
                  </c:pt>
                  <c:pt idx="5">
                    <c:v>55.7558 N</c:v>
                  </c:pt>
                  <c:pt idx="6">
                    <c:v>(blank)</c:v>
                  </c:pt>
                </c:lvl>
              </c:multiLvlStrCache>
            </c:multiLvlStrRef>
          </c:cat>
          <c:val>
            <c:numRef>
              <c:f>Sheet9!$C$5:$C$19</c:f>
              <c:numCache>
                <c:formatCode>General</c:formatCode>
                <c:ptCount val="7"/>
                <c:pt idx="0">
                  <c:v>5422</c:v>
                </c:pt>
                <c:pt idx="1">
                  <c:v>5307</c:v>
                </c:pt>
                <c:pt idx="2">
                  <c:v>5216</c:v>
                </c:pt>
                <c:pt idx="3">
                  <c:v>5338</c:v>
                </c:pt>
                <c:pt idx="4">
                  <c:v>5397</c:v>
                </c:pt>
                <c:pt idx="5">
                  <c:v>5351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116-4842-AA39-F76B1148730E}"/>
            </c:ext>
          </c:extLst>
        </c:ser>
        <c:ser>
          <c:idx val="2"/>
          <c:order val="2"/>
          <c:tx>
            <c:strRef>
              <c:f>Sheet9!$D$3:$D$4</c:f>
              <c:strCache>
                <c:ptCount val="1"/>
                <c:pt idx="0">
                  <c:v>(blank)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multiLvlStrRef>
              <c:f>Sheet9!$A$5:$A$19</c:f>
              <c:multiLvlStrCache>
                <c:ptCount val="7"/>
                <c:lvl>
                  <c:pt idx="0">
                    <c:v> -74.006 W</c:v>
                  </c:pt>
                  <c:pt idx="1">
                    <c:v> -118.2437 W</c:v>
                  </c:pt>
                  <c:pt idx="2">
                    <c:v> -74.006 W</c:v>
                  </c:pt>
                  <c:pt idx="3">
                    <c:v> 2.3522 W</c:v>
                  </c:pt>
                  <c:pt idx="4">
                    <c:v> 0.1278 W</c:v>
                  </c:pt>
                  <c:pt idx="5">
                    <c:v> 37.6173 W</c:v>
                  </c:pt>
                  <c:pt idx="6">
                    <c:v>(blank)</c:v>
                  </c:pt>
                </c:lvl>
                <c:lvl>
                  <c:pt idx="0">
                    <c:v>34.0522 N</c:v>
                  </c:pt>
                  <c:pt idx="1">
                    <c:v>35.6895 N</c:v>
                  </c:pt>
                  <c:pt idx="2">
                    <c:v>40.7128 N</c:v>
                  </c:pt>
                  <c:pt idx="3">
                    <c:v>48.8566 N</c:v>
                  </c:pt>
                  <c:pt idx="4">
                    <c:v>51.5074 N</c:v>
                  </c:pt>
                  <c:pt idx="5">
                    <c:v>55.7558 N</c:v>
                  </c:pt>
                  <c:pt idx="6">
                    <c:v>(blank)</c:v>
                  </c:pt>
                </c:lvl>
              </c:multiLvlStrCache>
            </c:multiLvlStrRef>
          </c:cat>
          <c:val>
            <c:numRef>
              <c:f>Sheet9!$D$5:$D$19</c:f>
              <c:numCache>
                <c:formatCode>General</c:formatCode>
                <c:ptCount val="7"/>
              </c:numCache>
            </c:numRef>
          </c:val>
          <c:extLst>
            <c:ext xmlns:c16="http://schemas.microsoft.com/office/drawing/2014/chart" uri="{C3380CC4-5D6E-409C-BE32-E72D297353CC}">
              <c16:uniqueId val="{00000002-0116-4842-AA39-F76B114873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15479695"/>
        <c:axId val="90369791"/>
      </c:barChart>
      <c:catAx>
        <c:axId val="14154796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369791"/>
        <c:crosses val="autoZero"/>
        <c:auto val="1"/>
        <c:lblAlgn val="ctr"/>
        <c:lblOffset val="100"/>
        <c:noMultiLvlLbl val="0"/>
      </c:catAx>
      <c:valAx>
        <c:axId val="903697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54796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[Kafburg Fintech Performance and Risk Dashboard.xlsx]Sheet17!Fraud Flag Table</c:name>
    <c:fmtId val="7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6290266841644793"/>
          <c:y val="7.407407407407407E-2"/>
          <c:w val="0.72632742782152226"/>
          <c:h val="0.8417129629629629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Sheet17!$B$3:$B$4</c:f>
              <c:strCache>
                <c:ptCount val="1"/>
                <c:pt idx="0">
                  <c:v>Failed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Sheet17!$A$5:$A$8</c:f>
              <c:strCache>
                <c:ptCount val="3"/>
                <c:pt idx="0">
                  <c:v>FALSE</c:v>
                </c:pt>
                <c:pt idx="1">
                  <c:v>TRUE</c:v>
                </c:pt>
                <c:pt idx="2">
                  <c:v>(blank)</c:v>
                </c:pt>
              </c:strCache>
            </c:strRef>
          </c:cat>
          <c:val>
            <c:numRef>
              <c:f>Sheet17!$B$5:$B$8</c:f>
              <c:numCache>
                <c:formatCode>General</c:formatCode>
                <c:ptCount val="3"/>
                <c:pt idx="0">
                  <c:v>7572</c:v>
                </c:pt>
                <c:pt idx="1">
                  <c:v>397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44-0F4E-8B1C-F0A5A6A9C4A9}"/>
            </c:ext>
          </c:extLst>
        </c:ser>
        <c:ser>
          <c:idx val="1"/>
          <c:order val="1"/>
          <c:tx>
            <c:strRef>
              <c:f>Sheet17!$C$3:$C$4</c:f>
              <c:strCache>
                <c:ptCount val="1"/>
                <c:pt idx="0">
                  <c:v>Success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Sheet17!$A$5:$A$8</c:f>
              <c:strCache>
                <c:ptCount val="3"/>
                <c:pt idx="0">
                  <c:v>FALSE</c:v>
                </c:pt>
                <c:pt idx="1">
                  <c:v>TRUE</c:v>
                </c:pt>
                <c:pt idx="2">
                  <c:v>(blank)</c:v>
                </c:pt>
              </c:strCache>
            </c:strRef>
          </c:cat>
          <c:val>
            <c:numRef>
              <c:f>Sheet17!$C$5:$C$8</c:f>
              <c:numCache>
                <c:formatCode>General</c:formatCode>
                <c:ptCount val="3"/>
                <c:pt idx="0">
                  <c:v>30387</c:v>
                </c:pt>
                <c:pt idx="1">
                  <c:v>1644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344-0F4E-8B1C-F0A5A6A9C4A9}"/>
            </c:ext>
          </c:extLst>
        </c:ser>
        <c:ser>
          <c:idx val="2"/>
          <c:order val="2"/>
          <c:tx>
            <c:strRef>
              <c:f>Sheet17!$D$3:$D$4</c:f>
              <c:strCache>
                <c:ptCount val="1"/>
                <c:pt idx="0">
                  <c:v>(blank)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Sheet17!$A$5:$A$8</c:f>
              <c:strCache>
                <c:ptCount val="3"/>
                <c:pt idx="0">
                  <c:v>FALSE</c:v>
                </c:pt>
                <c:pt idx="1">
                  <c:v>TRUE</c:v>
                </c:pt>
                <c:pt idx="2">
                  <c:v>(blank)</c:v>
                </c:pt>
              </c:strCache>
            </c:strRef>
          </c:cat>
          <c:val>
            <c:numRef>
              <c:f>Sheet17!$D$5:$D$8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02-9344-0F4E-8B1C-F0A5A6A9C4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54703424"/>
        <c:axId val="1454705904"/>
      </c:barChart>
      <c:catAx>
        <c:axId val="14547034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4705904"/>
        <c:crosses val="autoZero"/>
        <c:auto val="1"/>
        <c:lblAlgn val="ctr"/>
        <c:lblOffset val="100"/>
        <c:noMultiLvlLbl val="0"/>
      </c:catAx>
      <c:valAx>
        <c:axId val="14547059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47034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[Kafburg Fintech Performance and Risk Dashboard.xlsx]Sheet19!PivotTable15</c:name>
    <c:fmtId val="7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Sheet19!$B$3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388-C440-BEA0-A8E56BA3A35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388-C440-BEA0-A8E56BA3A35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388-C440-BEA0-A8E56BA3A355}"/>
              </c:ext>
            </c:extLst>
          </c:dPt>
          <c:cat>
            <c:strRef>
              <c:f>Sheet19!$A$4:$A$7</c:f>
              <c:strCache>
                <c:ptCount val="3"/>
                <c:pt idx="0">
                  <c:v>Desktop</c:v>
                </c:pt>
                <c:pt idx="1">
                  <c:v>Mobile</c:v>
                </c:pt>
                <c:pt idx="2">
                  <c:v>(blank)</c:v>
                </c:pt>
              </c:strCache>
            </c:strRef>
          </c:cat>
          <c:val>
            <c:numRef>
              <c:f>Sheet19!$B$4:$B$7</c:f>
              <c:numCache>
                <c:formatCode>General</c:formatCode>
                <c:ptCount val="3"/>
                <c:pt idx="0">
                  <c:v>19975</c:v>
                </c:pt>
                <c:pt idx="1">
                  <c:v>20025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388-C440-BEA0-A8E56BA3A3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44A98-2751-1CD7-14E0-444A7285A8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82DB2C-315C-8589-79F6-E219F3B460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24DE2-09C9-6FCD-3CE5-04E5D4CF0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AF112-DE72-A249-B2F4-AA373958851E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28BA2-A654-23CC-E216-7FC68AA37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87331-1DF5-7BCA-2A11-B66375891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00398-1814-104F-A291-13A6A2864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337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A44D6-50F3-61A8-E76C-1B60F37D3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A56B5-E6DF-EBCD-B0BE-EB2F8499F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12D64-2513-EFA2-4300-9DCEA7FE6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AF112-DE72-A249-B2F4-AA373958851E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92A4C-912A-302F-929C-F3CF78CC9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AF776-6135-EF35-36FC-8FC7A48D6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00398-1814-104F-A291-13A6A2864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7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51A54-9252-1C63-1DA4-96833B4AE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9BD6D9-F036-3922-C29C-9CC21774C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D768D-3DC4-3553-587B-3B0DB754F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AF112-DE72-A249-B2F4-AA373958851E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F6D53-3F45-6A24-D885-8DB3C915F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864A6-643D-70A4-3BF0-1E6B692B8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00398-1814-104F-A291-13A6A2864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819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BE8AA-E1B5-089D-10B1-6284FD7BE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C9038-D23B-20F6-47E1-6E6BCBDA16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E99B13-1888-56D8-3B34-2318267AF0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37235-FB44-4181-449A-C80DA765E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AF112-DE72-A249-B2F4-AA373958851E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469650-0A7C-CED5-728E-7270979E7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51C785-6102-B2B9-B092-2349A0906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00398-1814-104F-A291-13A6A2864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910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D729A-26E2-6D07-873D-1B4767352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ECC63C-3B5A-0B37-21AC-CC89511C04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AF20B5-0A3D-CE0C-97BC-ED69BFC1AC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3A5178-DB1B-AD9B-1667-45148FA0A6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3F3E2D-40D1-C2F4-20CD-78B7097CE8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ADEAE8-2A34-1C6D-A7FA-255C10B23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AF112-DE72-A249-B2F4-AA373958851E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B1E506-A2C4-F00D-E6D2-7DAA189B6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7A4D2B-86BB-0E92-96DF-A623E9F51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00398-1814-104F-A291-13A6A2864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413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2019D-0B5B-7296-B820-110F21262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74E9A3-9633-3C70-0757-DA63EAEB7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AF112-DE72-A249-B2F4-AA373958851E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EDF382-2721-6102-BECD-F35B5F090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FC6C3-C002-D668-3148-8D586BF0A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00398-1814-104F-A291-13A6A2864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415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D61F52-E566-DD78-A177-37D1470DE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AF112-DE72-A249-B2F4-AA373958851E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4B5AEC-0393-7CCD-87C7-8D2E3D977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886EE-46CB-470A-0623-26890D3C6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00398-1814-104F-A291-13A6A2864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060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4F525-F0C5-BC48-FB12-DB026EF72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E6EB8-D8EE-E14F-11D3-65A4E1347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28DBA4-C8D3-6421-9060-8B9345F27D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1D1EA7-E708-F3EF-CA9A-0E6C2F758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AF112-DE72-A249-B2F4-AA373958851E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F666E7-3A64-6A8E-581A-B2F7C46A9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1CB96D-4AF2-B770-8E72-AAEEA12BE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00398-1814-104F-A291-13A6A2864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02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A893A-E5FF-4FF3-61DC-E85947C0E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649D3C-F99B-E886-D3E0-7CB23015A9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D10D19-8917-A2B4-C2E6-4A40C16027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A19D2-7B86-B8DA-7720-CA10C33AE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AF112-DE72-A249-B2F4-AA373958851E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83E6B1-2ABB-2B11-828D-3F151708E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500A5-84D3-F69C-A961-59F8FE2C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00398-1814-104F-A291-13A6A2864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76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0F1CF-5EEC-E0F6-73DA-0565E2D80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431487-522C-3F97-CE14-814EEA7A9E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824DC-7F0E-40C2-9848-B08171CA1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AF112-DE72-A249-B2F4-AA373958851E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A727D-342A-227A-E448-E821872F1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41F06-DF07-6851-DE4A-7F912640D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00398-1814-104F-A291-13A6A2864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37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DCDD83-DE1B-C479-5B82-BAA53DAF37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50F81A-8E75-7C23-74D7-AF5AC53262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8EB69-E652-6917-33AE-09B3060EB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AF112-DE72-A249-B2F4-AA373958851E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AEC25-E721-6A7F-7F9D-4D99E5509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16F10-D41E-7F26-3C14-E90E21DA1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00398-1814-104F-A291-13A6A2864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617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C6A995-F54A-9F48-5E1B-10BC4174C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1476E-3462-04AE-B0EB-A951F4930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1E6A3-E12E-8389-4F72-E830451C0F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DAF112-DE72-A249-B2F4-AA373958851E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84225-B119-7109-43F0-D4C70835FB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D237A-BD84-4311-4942-C49DA88F25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00398-1814-104F-A291-13A6A2864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593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82D81-E394-8601-4CC1-2C14105288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Kafburg</a:t>
            </a:r>
            <a:r>
              <a:rPr lang="en-US" dirty="0"/>
              <a:t> Fintech Performance and Risk Analysis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6E2812-4EEF-0CDA-038A-2CAC6B8141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Presenter Name: Emmanuel Okafor</a:t>
            </a:r>
          </a:p>
          <a:p>
            <a:r>
              <a:rPr lang="en-US" dirty="0"/>
              <a:t>Designation: Data Analyst</a:t>
            </a:r>
          </a:p>
        </p:txBody>
      </p:sp>
    </p:spTree>
    <p:extLst>
      <p:ext uri="{BB962C8B-B14F-4D97-AF65-F5344CB8AC3E}">
        <p14:creationId xmlns:p14="http://schemas.microsoft.com/office/powerpoint/2010/main" val="1551378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92EDB-443A-E2EA-8228-E867E5CA6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40D2C-10D1-6635-56D2-40E283C59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Kafburg</a:t>
            </a:r>
            <a:r>
              <a:rPr lang="en-US" dirty="0"/>
              <a:t> Fintech is experiencing a critical issues with its banking platform.</a:t>
            </a:r>
          </a:p>
          <a:p>
            <a:r>
              <a:rPr lang="en-US" dirty="0"/>
              <a:t>Customers are complaining that their transactions are failing. We need to know if this is banking error or it is caused by poor network.</a:t>
            </a:r>
          </a:p>
          <a:p>
            <a:r>
              <a:rPr lang="en-US" dirty="0"/>
              <a:t>Are we stopping fraud we detect.</a:t>
            </a:r>
          </a:p>
          <a:p>
            <a:r>
              <a:rPr lang="en-US" dirty="0"/>
              <a:t>Is our investment on premium to network provider paying off?</a:t>
            </a:r>
          </a:p>
          <a:p>
            <a:r>
              <a:rPr lang="en-US" dirty="0"/>
              <a:t>With limited app development, should we focus on the desktop or mobile app development.</a:t>
            </a:r>
          </a:p>
        </p:txBody>
      </p:sp>
    </p:spTree>
    <p:extLst>
      <p:ext uri="{BB962C8B-B14F-4D97-AF65-F5344CB8AC3E}">
        <p14:creationId xmlns:p14="http://schemas.microsoft.com/office/powerpoint/2010/main" val="1794457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E131F-9F27-5464-7F21-DD83EA322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 of the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7D20C-8E02-6A60-9092-D7E1211F3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analyze the dataset of the organization using KPIs. </a:t>
            </a:r>
          </a:p>
          <a:p>
            <a:r>
              <a:rPr lang="en-US" dirty="0"/>
              <a:t>To design an interactive dashboard that give insights and answer some burning questions.</a:t>
            </a:r>
          </a:p>
          <a:p>
            <a:r>
              <a:rPr lang="en-US" dirty="0"/>
              <a:t>Prepare presentation slide that captures all the activities, insights and explanation.</a:t>
            </a:r>
          </a:p>
          <a:p>
            <a:r>
              <a:rPr lang="en-US" dirty="0"/>
              <a:t>Give recommendations based on findings</a:t>
            </a:r>
          </a:p>
        </p:txBody>
      </p:sp>
    </p:spTree>
    <p:extLst>
      <p:ext uri="{BB962C8B-B14F-4D97-AF65-F5344CB8AC3E}">
        <p14:creationId xmlns:p14="http://schemas.microsoft.com/office/powerpoint/2010/main" val="23356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F225D-5901-A064-BB04-4F6AF8948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BB1BB-8190-BEBB-82C5-96D0B0709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 dataset is used</a:t>
            </a:r>
          </a:p>
          <a:p>
            <a:r>
              <a:rPr lang="en-US" dirty="0"/>
              <a:t>Main column used includes Transaction ID, Transaction Status, Transaction Type, Latency, Time, Geolocation, etc.</a:t>
            </a:r>
          </a:p>
          <a:p>
            <a:r>
              <a:rPr lang="en-US" dirty="0"/>
              <a:t>Data transformation was carried out in changing the data type of Timestamp and splitting the same into Day and Time column. Also splitting Longitude and latitude Column</a:t>
            </a:r>
          </a:p>
        </p:txBody>
      </p:sp>
    </p:spTree>
    <p:extLst>
      <p:ext uri="{BB962C8B-B14F-4D97-AF65-F5344CB8AC3E}">
        <p14:creationId xmlns:p14="http://schemas.microsoft.com/office/powerpoint/2010/main" val="1298493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BC20D-578C-8ECA-72AF-B795E41BA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Metrics (KPIs)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0C906-4080-3A1B-2D1D-B66C4D62C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number of Transaction</a:t>
            </a:r>
          </a:p>
          <a:p>
            <a:r>
              <a:rPr lang="en-US" dirty="0"/>
              <a:t>Total number of Failed Transaction</a:t>
            </a:r>
          </a:p>
          <a:p>
            <a:r>
              <a:rPr lang="en-US" dirty="0"/>
              <a:t>Total number of Successful Transaction</a:t>
            </a:r>
          </a:p>
        </p:txBody>
      </p:sp>
    </p:spTree>
    <p:extLst>
      <p:ext uri="{BB962C8B-B14F-4D97-AF65-F5344CB8AC3E}">
        <p14:creationId xmlns:p14="http://schemas.microsoft.com/office/powerpoint/2010/main" val="1297143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F18F2-E0D8-9267-8BF4-BB4A4AE67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Success/Failure by Transaction Type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F1D10B0-B53E-D5EB-AECB-997FEE4B1C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2638063"/>
              </p:ext>
            </p:extLst>
          </p:nvPr>
        </p:nvGraphicFramePr>
        <p:xfrm>
          <a:off x="457200" y="2185194"/>
          <a:ext cx="5003800" cy="10052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60120">
                  <a:extLst>
                    <a:ext uri="{9D8B030D-6E8A-4147-A177-3AD203B41FA5}">
                      <a16:colId xmlns:a16="http://schemas.microsoft.com/office/drawing/2014/main" val="2877420595"/>
                    </a:ext>
                  </a:extLst>
                </a:gridCol>
                <a:gridCol w="992580">
                  <a:extLst>
                    <a:ext uri="{9D8B030D-6E8A-4147-A177-3AD203B41FA5}">
                      <a16:colId xmlns:a16="http://schemas.microsoft.com/office/drawing/2014/main" val="1254061768"/>
                    </a:ext>
                  </a:extLst>
                </a:gridCol>
                <a:gridCol w="795850">
                  <a:extLst>
                    <a:ext uri="{9D8B030D-6E8A-4147-A177-3AD203B41FA5}">
                      <a16:colId xmlns:a16="http://schemas.microsoft.com/office/drawing/2014/main" val="3276310036"/>
                    </a:ext>
                  </a:extLst>
                </a:gridCol>
                <a:gridCol w="827625">
                  <a:extLst>
                    <a:ext uri="{9D8B030D-6E8A-4147-A177-3AD203B41FA5}">
                      <a16:colId xmlns:a16="http://schemas.microsoft.com/office/drawing/2014/main" val="579361126"/>
                    </a:ext>
                  </a:extLst>
                </a:gridCol>
                <a:gridCol w="827625">
                  <a:extLst>
                    <a:ext uri="{9D8B030D-6E8A-4147-A177-3AD203B41FA5}">
                      <a16:colId xmlns:a16="http://schemas.microsoft.com/office/drawing/2014/main" val="754673281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Count of Transaction ID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Column Labels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48720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Row Labels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Deposit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Transfer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Withdrawal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Grand Total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677162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Failed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464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457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418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1339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2357778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Success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1796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1838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1800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5434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4811862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Grand Total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2260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2295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2218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 dirty="0">
                          <a:effectLst/>
                        </a:rPr>
                        <a:t>6773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37911294"/>
                  </a:ext>
                </a:extLst>
              </a:tr>
            </a:tbl>
          </a:graphicData>
        </a:graphic>
      </p:graphicFrame>
      <p:graphicFrame>
        <p:nvGraphicFramePr>
          <p:cNvPr id="6" name="Transaction Statu VS Transactin Type">
            <a:extLst>
              <a:ext uri="{FF2B5EF4-FFF2-40B4-BE49-F238E27FC236}">
                <a16:creationId xmlns:a16="http://schemas.microsoft.com/office/drawing/2014/main" id="{1C32586C-09F5-840D-668A-89B387A3C6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278268"/>
              </p:ext>
            </p:extLst>
          </p:nvPr>
        </p:nvGraphicFramePr>
        <p:xfrm>
          <a:off x="838200" y="3429000"/>
          <a:ext cx="4451350" cy="2762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7" name="Graphic 6">
            <a:extLst>
              <a:ext uri="{FF2B5EF4-FFF2-40B4-BE49-F238E27FC236}">
                <a16:creationId xmlns:a16="http://schemas.microsoft.com/office/drawing/2014/main" id="{414C6379-4AA1-3237-ED29-C302230C93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0250" y="1946275"/>
            <a:ext cx="2743200" cy="3937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2B47459-AC6A-5628-6A41-E2329DE111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43975" y="1850549"/>
            <a:ext cx="2743200" cy="393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197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2AA4B-D61F-6B12-D5BC-782DC33FB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Success/Failure based on Device Used and Geolocation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769DCA0-DD62-B3FC-9E38-C4A9492291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3838861"/>
              </p:ext>
            </p:extLst>
          </p:nvPr>
        </p:nvGraphicFramePr>
        <p:xfrm>
          <a:off x="212725" y="1562894"/>
          <a:ext cx="4622799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9957">
                  <a:extLst>
                    <a:ext uri="{9D8B030D-6E8A-4147-A177-3AD203B41FA5}">
                      <a16:colId xmlns:a16="http://schemas.microsoft.com/office/drawing/2014/main" val="2820207623"/>
                    </a:ext>
                  </a:extLst>
                </a:gridCol>
                <a:gridCol w="1179480">
                  <a:extLst>
                    <a:ext uri="{9D8B030D-6E8A-4147-A177-3AD203B41FA5}">
                      <a16:colId xmlns:a16="http://schemas.microsoft.com/office/drawing/2014/main" val="343661655"/>
                    </a:ext>
                  </a:extLst>
                </a:gridCol>
                <a:gridCol w="523156">
                  <a:extLst>
                    <a:ext uri="{9D8B030D-6E8A-4147-A177-3AD203B41FA5}">
                      <a16:colId xmlns:a16="http://schemas.microsoft.com/office/drawing/2014/main" val="1886168288"/>
                    </a:ext>
                  </a:extLst>
                </a:gridCol>
                <a:gridCol w="532668">
                  <a:extLst>
                    <a:ext uri="{9D8B030D-6E8A-4147-A177-3AD203B41FA5}">
                      <a16:colId xmlns:a16="http://schemas.microsoft.com/office/drawing/2014/main" val="3688041092"/>
                    </a:ext>
                  </a:extLst>
                </a:gridCol>
                <a:gridCol w="827538">
                  <a:extLst>
                    <a:ext uri="{9D8B030D-6E8A-4147-A177-3AD203B41FA5}">
                      <a16:colId xmlns:a16="http://schemas.microsoft.com/office/drawing/2014/main" val="577816651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Count of Transaction ID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Column Labels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3668381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Row Labels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Desktop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Mobile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(blank)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Grand Total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5092183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Failed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3990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3979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7969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9352947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Success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15985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16046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32031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16301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(blank)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500043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Grand Total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19975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20025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 dirty="0">
                          <a:effectLst/>
                        </a:rPr>
                        <a:t>40000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16018347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EAF367E1-73D1-AF92-3D3F-3209ECA05F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4230282"/>
              </p:ext>
            </p:extLst>
          </p:nvPr>
        </p:nvGraphicFramePr>
        <p:xfrm>
          <a:off x="466725" y="328612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569EB49-A909-04E5-16AF-F3D628FCF6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4156705"/>
              </p:ext>
            </p:extLst>
          </p:nvPr>
        </p:nvGraphicFramePr>
        <p:xfrm>
          <a:off x="6481762" y="774700"/>
          <a:ext cx="4673600" cy="3454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61040">
                  <a:extLst>
                    <a:ext uri="{9D8B030D-6E8A-4147-A177-3AD203B41FA5}">
                      <a16:colId xmlns:a16="http://schemas.microsoft.com/office/drawing/2014/main" val="3122509847"/>
                    </a:ext>
                  </a:extLst>
                </a:gridCol>
                <a:gridCol w="1180298">
                  <a:extLst>
                    <a:ext uri="{9D8B030D-6E8A-4147-A177-3AD203B41FA5}">
                      <a16:colId xmlns:a16="http://schemas.microsoft.com/office/drawing/2014/main" val="3379462604"/>
                    </a:ext>
                  </a:extLst>
                </a:gridCol>
                <a:gridCol w="571112">
                  <a:extLst>
                    <a:ext uri="{9D8B030D-6E8A-4147-A177-3AD203B41FA5}">
                      <a16:colId xmlns:a16="http://schemas.microsoft.com/office/drawing/2014/main" val="3519076199"/>
                    </a:ext>
                  </a:extLst>
                </a:gridCol>
                <a:gridCol w="533038">
                  <a:extLst>
                    <a:ext uri="{9D8B030D-6E8A-4147-A177-3AD203B41FA5}">
                      <a16:colId xmlns:a16="http://schemas.microsoft.com/office/drawing/2014/main" val="2755380260"/>
                    </a:ext>
                  </a:extLst>
                </a:gridCol>
                <a:gridCol w="828112">
                  <a:extLst>
                    <a:ext uri="{9D8B030D-6E8A-4147-A177-3AD203B41FA5}">
                      <a16:colId xmlns:a16="http://schemas.microsoft.com/office/drawing/2014/main" val="2889611069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Count of Transaction ID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Column Labels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8661203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Row Labels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Failed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Success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(blank)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Grand Total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4347542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34.0522 N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1296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5422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6718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4902314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 -74.006 W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1296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5422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6718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0047233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35.6895 N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1375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5307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6682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208798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 -118.2437 W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1375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5307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6682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1759826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40.7128 N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1339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5216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6555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229660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 -74.006 W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1339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5216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6555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6305473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48.8566 N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1336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5338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6674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3140436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 2.3522 W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1336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5338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6674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6647156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51.5074 N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1287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5397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6684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3244111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 0.1278 W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1287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5397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6684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4987968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55.7558 N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1336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5351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6687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4823744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 37.6173 W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1336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5351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6687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0602531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(blank)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9500682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(blank)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9243116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Grand Total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7969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32031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 dirty="0">
                          <a:effectLst/>
                        </a:rPr>
                        <a:t>40000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68159741"/>
                  </a:ext>
                </a:extLst>
              </a:tr>
            </a:tbl>
          </a:graphicData>
        </a:graphic>
      </p:graphicFrame>
      <p:graphicFrame>
        <p:nvGraphicFramePr>
          <p:cNvPr id="7" name="Geolo cation Chart">
            <a:extLst>
              <a:ext uri="{FF2B5EF4-FFF2-40B4-BE49-F238E27FC236}">
                <a16:creationId xmlns:a16="http://schemas.microsoft.com/office/drawing/2014/main" id="{2B6BD26B-794D-7341-DED3-F2AA7C4E7D2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62314658"/>
              </p:ext>
            </p:extLst>
          </p:nvPr>
        </p:nvGraphicFramePr>
        <p:xfrm>
          <a:off x="5886450" y="4229100"/>
          <a:ext cx="4467226" cy="26146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29565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CB563-28BD-C312-7AFF-E3143C7A6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Fraud Flagged chart and App Development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99788F0-375A-9407-D92B-9A40A2393D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6010535"/>
              </p:ext>
            </p:extLst>
          </p:nvPr>
        </p:nvGraphicFramePr>
        <p:xfrm>
          <a:off x="244475" y="1520032"/>
          <a:ext cx="4673600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61040">
                  <a:extLst>
                    <a:ext uri="{9D8B030D-6E8A-4147-A177-3AD203B41FA5}">
                      <a16:colId xmlns:a16="http://schemas.microsoft.com/office/drawing/2014/main" val="1360357560"/>
                    </a:ext>
                  </a:extLst>
                </a:gridCol>
                <a:gridCol w="1180298">
                  <a:extLst>
                    <a:ext uri="{9D8B030D-6E8A-4147-A177-3AD203B41FA5}">
                      <a16:colId xmlns:a16="http://schemas.microsoft.com/office/drawing/2014/main" val="3752695531"/>
                    </a:ext>
                  </a:extLst>
                </a:gridCol>
                <a:gridCol w="571112">
                  <a:extLst>
                    <a:ext uri="{9D8B030D-6E8A-4147-A177-3AD203B41FA5}">
                      <a16:colId xmlns:a16="http://schemas.microsoft.com/office/drawing/2014/main" val="3723814651"/>
                    </a:ext>
                  </a:extLst>
                </a:gridCol>
                <a:gridCol w="533038">
                  <a:extLst>
                    <a:ext uri="{9D8B030D-6E8A-4147-A177-3AD203B41FA5}">
                      <a16:colId xmlns:a16="http://schemas.microsoft.com/office/drawing/2014/main" val="1765422419"/>
                    </a:ext>
                  </a:extLst>
                </a:gridCol>
                <a:gridCol w="828112">
                  <a:extLst>
                    <a:ext uri="{9D8B030D-6E8A-4147-A177-3AD203B41FA5}">
                      <a16:colId xmlns:a16="http://schemas.microsoft.com/office/drawing/2014/main" val="3801200477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Count of Transaction ID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Column Labels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9265701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Row Labels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Failed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Success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(blank)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Grand Total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6909643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FALSE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7572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30387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37959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079909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TRUE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397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1644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2041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251888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(blank)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3465083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Grand Total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7969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32031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 dirty="0">
                          <a:effectLst/>
                        </a:rPr>
                        <a:t>40000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111865"/>
                  </a:ext>
                </a:extLst>
              </a:tr>
            </a:tbl>
          </a:graphicData>
        </a:graphic>
      </p:graphicFrame>
      <p:graphicFrame>
        <p:nvGraphicFramePr>
          <p:cNvPr id="5" name="Fraud_Flad_Chart">
            <a:extLst>
              <a:ext uri="{FF2B5EF4-FFF2-40B4-BE49-F238E27FC236}">
                <a16:creationId xmlns:a16="http://schemas.microsoft.com/office/drawing/2014/main" id="{061029F0-02ED-71DD-4F8B-C0546F0BC4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201272"/>
              </p:ext>
            </p:extLst>
          </p:nvPr>
        </p:nvGraphicFramePr>
        <p:xfrm>
          <a:off x="244475" y="3415507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17D95A0-D0B1-0BF8-E551-4AC97ACF25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73108"/>
              </p:ext>
            </p:extLst>
          </p:nvPr>
        </p:nvGraphicFramePr>
        <p:xfrm>
          <a:off x="6859587" y="1520032"/>
          <a:ext cx="2552700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726545912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483422611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Row Labels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Count of Transaction ID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0694273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Desktop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19975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6550006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Mobile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20025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0360586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(blank)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3112380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u="none" strike="noStrike">
                          <a:effectLst/>
                        </a:rPr>
                        <a:t>Grand Total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u="none" strike="noStrike">
                          <a:effectLst/>
                        </a:rPr>
                        <a:t>40000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0148137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04671732"/>
                  </a:ext>
                </a:extLst>
              </a:tr>
            </a:tbl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FDF9987-0898-CFB5-AD0B-FF1C41CE0E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0339670"/>
              </p:ext>
            </p:extLst>
          </p:nvPr>
        </p:nvGraphicFramePr>
        <p:xfrm>
          <a:off x="5849937" y="32004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47703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50746-EA68-1FFD-539D-6A25692FF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08779-4DE8-5E11-CBC9-64C543C72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High success rate indicate the transaction failures is not majorly due to bank system failure nor network failure.</a:t>
            </a:r>
          </a:p>
          <a:p>
            <a:r>
              <a:rPr lang="en-US" dirty="0"/>
              <a:t>No concentration of failures (high failures) towards any factor—Transaction type, Geolocation, Device used, Time, Latency group, slice bandwidth.</a:t>
            </a:r>
          </a:p>
          <a:p>
            <a:r>
              <a:rPr lang="en-US" dirty="0"/>
              <a:t>Failure is evenly distributed in device used, transaction type, latency group, geolocation, time, slice bandwidth.</a:t>
            </a:r>
          </a:p>
          <a:p>
            <a:r>
              <a:rPr lang="en-US" dirty="0"/>
              <a:t>The cybersecurity of the is not tight enough to stop transactions marked as ‘Fraud flag’.</a:t>
            </a:r>
          </a:p>
          <a:p>
            <a:r>
              <a:rPr lang="en-US" dirty="0"/>
              <a:t>At low latency, there is still high failure.</a:t>
            </a:r>
          </a:p>
          <a:p>
            <a:r>
              <a:rPr lang="en-US" dirty="0"/>
              <a:t>Network slide premium has no impact on operation efficiency.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479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C2993-FD20-1A68-7642-D05F94CE5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362D3-EF8D-7275-3FD3-A45DEF9E3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banks backend system needs to be upgraded.</a:t>
            </a:r>
          </a:p>
          <a:p>
            <a:r>
              <a:rPr lang="en-US" dirty="0"/>
              <a:t>Cybersecurity system of the bank need to be upgraded and tightened with most modern advanced tools and technologies to stop transactions marked as ‘Fraud flag’ from going through.</a:t>
            </a:r>
          </a:p>
          <a:p>
            <a:r>
              <a:rPr lang="en-US" dirty="0"/>
              <a:t>The App development resources has to be equally assigned to Desktop and Mobile App development.</a:t>
            </a:r>
          </a:p>
          <a:p>
            <a:r>
              <a:rPr lang="en-US" dirty="0"/>
              <a:t>The Fintech should look for another network provider with better services</a:t>
            </a:r>
          </a:p>
          <a:p>
            <a:r>
              <a:rPr lang="en-US" dirty="0"/>
              <a:t>The transaction app has to be constantly upgraded to infuse recent technology and security measures.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897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3E492-722C-8A4F-8DB7-476347B4B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BC118-9ECF-9D69-117E-3E4D2E8F6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15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627</Words>
  <Application>Microsoft Macintosh PowerPoint</Application>
  <PresentationFormat>Widescreen</PresentationFormat>
  <Paragraphs>171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Kafburg Fintech Performance and Risk Analysis </vt:lpstr>
      <vt:lpstr>Problem Summary</vt:lpstr>
      <vt:lpstr>Objective of the Analysis</vt:lpstr>
      <vt:lpstr>Dataset Overview</vt:lpstr>
      <vt:lpstr>Key Metrics (KPIs)</vt:lpstr>
      <vt:lpstr>Success/Failure by Transaction Type</vt:lpstr>
      <vt:lpstr>Success/Failure based on Device Used and Geolocation </vt:lpstr>
      <vt:lpstr>Fraud Flagged chart and App Development </vt:lpstr>
      <vt:lpstr>Summary of Findings</vt:lpstr>
      <vt:lpstr>Recommendations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Emmanuel Chek Okafor</dc:creator>
  <cp:lastModifiedBy>Emmanuel Chek Okafor</cp:lastModifiedBy>
  <cp:revision>3</cp:revision>
  <dcterms:created xsi:type="dcterms:W3CDTF">2025-11-29T08:29:05Z</dcterms:created>
  <dcterms:modified xsi:type="dcterms:W3CDTF">2025-11-29T12:29:58Z</dcterms:modified>
</cp:coreProperties>
</file>